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70" r:id="rId2"/>
    <p:sldId id="256" r:id="rId3"/>
    <p:sldId id="257" r:id="rId4"/>
    <p:sldId id="258" r:id="rId5"/>
    <p:sldId id="259" r:id="rId6"/>
    <p:sldId id="260" r:id="rId7"/>
    <p:sldId id="261" r:id="rId8"/>
    <p:sldId id="262" r:id="rId9"/>
    <p:sldId id="265" r:id="rId10"/>
    <p:sldId id="264"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6/26/2021</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US" dirty="0"/>
              <a:t>
              </a:t>
            </a: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6/26/2021</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6/26/2021</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6/26/2021</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6/26/2021</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6/26/2021</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6/26/2021</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6/26/2021</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6/26/2021</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6/26/2021</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6/26/2021</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6/26/2021</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6/26/2021</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6/26/2021</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6/26/2021</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6/26/2021</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6/26/2021</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6/26/2021</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dirty="0"/>
              <a:t>
              </a:t>
            </a:r>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4421" y="570016"/>
            <a:ext cx="8930244" cy="5866409"/>
          </a:xfrm>
          <a:prstGeom prst="rect">
            <a:avLst/>
          </a:prstGeom>
          <a:ln>
            <a:solidFill>
              <a:schemeClr val="tx1">
                <a:lumMod val="95000"/>
                <a:lumOff val="5000"/>
              </a:schemeClr>
            </a:solidFill>
            <a:prstDash val="solid"/>
          </a:ln>
        </p:spPr>
      </p:pic>
    </p:spTree>
    <p:extLst>
      <p:ext uri="{BB962C8B-B14F-4D97-AF65-F5344CB8AC3E}">
        <p14:creationId xmlns:p14="http://schemas.microsoft.com/office/powerpoint/2010/main" val="37975248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914400"/>
            <a:ext cx="8825658" cy="1789611"/>
          </a:xfrm>
        </p:spPr>
        <p:txBody>
          <a:bodyPr/>
          <a:lstStyle/>
          <a:p>
            <a:pPr algn="ctr"/>
            <a:r>
              <a:rPr lang="en-US" dirty="0" smtClean="0"/>
              <a:t>NIDA-Pak Security Policy 2020</a:t>
            </a:r>
            <a:endParaRPr lang="en-US" dirty="0"/>
          </a:p>
        </p:txBody>
      </p:sp>
      <p:sp>
        <p:nvSpPr>
          <p:cNvPr id="3" name="Subtitle 2"/>
          <p:cNvSpPr>
            <a:spLocks noGrp="1"/>
          </p:cNvSpPr>
          <p:nvPr>
            <p:ph type="subTitle" idx="1"/>
          </p:nvPr>
        </p:nvSpPr>
        <p:spPr>
          <a:xfrm>
            <a:off x="1154955" y="2834640"/>
            <a:ext cx="8825658" cy="1319349"/>
          </a:xfrm>
        </p:spPr>
        <p:txBody>
          <a:bodyPr/>
          <a:lstStyle/>
          <a:p>
            <a:endParaRPr lang="en-US" dirty="0" smtClean="0">
              <a:solidFill>
                <a:srgbClr val="FFC000"/>
              </a:solidFill>
            </a:endParaRPr>
          </a:p>
          <a:p>
            <a:r>
              <a:rPr lang="en-US" sz="4000" dirty="0" smtClean="0">
                <a:solidFill>
                  <a:srgbClr val="FFC000"/>
                </a:solidFill>
                <a:latin typeface="Arial Narrow" panose="020B0606020202030204" pitchFamily="34" charset="0"/>
              </a:rPr>
              <a:t>Brief presentation on policy 2020</a:t>
            </a:r>
            <a:endParaRPr lang="en-US" sz="4000" dirty="0">
              <a:solidFill>
                <a:srgbClr val="FFC000"/>
              </a:solidFill>
              <a:latin typeface="Arial Narrow" panose="020B0606020202030204" pitchFamily="34" charset="0"/>
            </a:endParaRPr>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9857377" y="579211"/>
            <a:ext cx="1778000" cy="539750"/>
          </a:xfrm>
          <a:prstGeom prst="rect">
            <a:avLst/>
          </a:prstGeom>
        </p:spPr>
      </p:pic>
    </p:spTree>
    <p:extLst>
      <p:ext uri="{BB962C8B-B14F-4D97-AF65-F5344CB8AC3E}">
        <p14:creationId xmlns:p14="http://schemas.microsoft.com/office/powerpoint/2010/main" val="4116208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wipe(down)">
                                      <p:cBhvr>
                                        <p:cTn id="13" dur="580">
                                          <p:stCondLst>
                                            <p:cond delay="0"/>
                                          </p:stCondLst>
                                        </p:cTn>
                                        <p:tgtEl>
                                          <p:spTgt spid="3">
                                            <p:txEl>
                                              <p:pRg st="1" end="1"/>
                                            </p:txEl>
                                          </p:spTgt>
                                        </p:tgtEl>
                                      </p:cBhvr>
                                    </p:animEffect>
                                    <p:anim calcmode="lin" valueType="num">
                                      <p:cBhvr>
                                        <p:cTn id="14"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9" dur="26">
                                          <p:stCondLst>
                                            <p:cond delay="650"/>
                                          </p:stCondLst>
                                        </p:cTn>
                                        <p:tgtEl>
                                          <p:spTgt spid="3">
                                            <p:txEl>
                                              <p:pRg st="1" end="1"/>
                                            </p:txEl>
                                          </p:spTgt>
                                        </p:tgtEl>
                                      </p:cBhvr>
                                      <p:to x="100000" y="60000"/>
                                    </p:animScale>
                                    <p:animScale>
                                      <p:cBhvr>
                                        <p:cTn id="20" dur="166" decel="50000">
                                          <p:stCondLst>
                                            <p:cond delay="676"/>
                                          </p:stCondLst>
                                        </p:cTn>
                                        <p:tgtEl>
                                          <p:spTgt spid="3">
                                            <p:txEl>
                                              <p:pRg st="1" end="1"/>
                                            </p:txEl>
                                          </p:spTgt>
                                        </p:tgtEl>
                                      </p:cBhvr>
                                      <p:to x="100000" y="100000"/>
                                    </p:animScale>
                                    <p:animScale>
                                      <p:cBhvr>
                                        <p:cTn id="21" dur="26">
                                          <p:stCondLst>
                                            <p:cond delay="1312"/>
                                          </p:stCondLst>
                                        </p:cTn>
                                        <p:tgtEl>
                                          <p:spTgt spid="3">
                                            <p:txEl>
                                              <p:pRg st="1" end="1"/>
                                            </p:txEl>
                                          </p:spTgt>
                                        </p:tgtEl>
                                      </p:cBhvr>
                                      <p:to x="100000" y="80000"/>
                                    </p:animScale>
                                    <p:animScale>
                                      <p:cBhvr>
                                        <p:cTn id="22" dur="166" decel="50000">
                                          <p:stCondLst>
                                            <p:cond delay="1338"/>
                                          </p:stCondLst>
                                        </p:cTn>
                                        <p:tgtEl>
                                          <p:spTgt spid="3">
                                            <p:txEl>
                                              <p:pRg st="1" end="1"/>
                                            </p:txEl>
                                          </p:spTgt>
                                        </p:tgtEl>
                                      </p:cBhvr>
                                      <p:to x="100000" y="100000"/>
                                    </p:animScale>
                                    <p:animScale>
                                      <p:cBhvr>
                                        <p:cTn id="23" dur="26">
                                          <p:stCondLst>
                                            <p:cond delay="1642"/>
                                          </p:stCondLst>
                                        </p:cTn>
                                        <p:tgtEl>
                                          <p:spTgt spid="3">
                                            <p:txEl>
                                              <p:pRg st="1" end="1"/>
                                            </p:txEl>
                                          </p:spTgt>
                                        </p:tgtEl>
                                      </p:cBhvr>
                                      <p:to x="100000" y="90000"/>
                                    </p:animScale>
                                    <p:animScale>
                                      <p:cBhvr>
                                        <p:cTn id="24" dur="166" decel="50000">
                                          <p:stCondLst>
                                            <p:cond delay="1668"/>
                                          </p:stCondLst>
                                        </p:cTn>
                                        <p:tgtEl>
                                          <p:spTgt spid="3">
                                            <p:txEl>
                                              <p:pRg st="1" end="1"/>
                                            </p:txEl>
                                          </p:spTgt>
                                        </p:tgtEl>
                                      </p:cBhvr>
                                      <p:to x="100000" y="100000"/>
                                    </p:animScale>
                                    <p:animScale>
                                      <p:cBhvr>
                                        <p:cTn id="25" dur="26">
                                          <p:stCondLst>
                                            <p:cond delay="1808"/>
                                          </p:stCondLst>
                                        </p:cTn>
                                        <p:tgtEl>
                                          <p:spTgt spid="3">
                                            <p:txEl>
                                              <p:pRg st="1" end="1"/>
                                            </p:txEl>
                                          </p:spTgt>
                                        </p:tgtEl>
                                      </p:cBhvr>
                                      <p:to x="100000" y="95000"/>
                                    </p:animScale>
                                    <p:animScale>
                                      <p:cBhvr>
                                        <p:cTn id="26" dur="166" decel="50000">
                                          <p:stCondLst>
                                            <p:cond delay="1834"/>
                                          </p:stCondLst>
                                        </p:cTn>
                                        <p:tgtEl>
                                          <p:spTgt spid="3">
                                            <p:txEl>
                                              <p:pRg st="1" end="1"/>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600891"/>
            <a:ext cx="8825658" cy="875212"/>
          </a:xfrm>
        </p:spPr>
        <p:txBody>
          <a:bodyPr/>
          <a:lstStyle/>
          <a:p>
            <a:r>
              <a:rPr lang="en-US" dirty="0" smtClean="0"/>
              <a:t>Brief about Policy</a:t>
            </a:r>
            <a:endParaRPr lang="en-US" dirty="0"/>
          </a:p>
        </p:txBody>
      </p:sp>
      <p:sp>
        <p:nvSpPr>
          <p:cNvPr id="3" name="Subtitle 2"/>
          <p:cNvSpPr>
            <a:spLocks noGrp="1"/>
          </p:cNvSpPr>
          <p:nvPr>
            <p:ph type="subTitle" idx="1"/>
          </p:nvPr>
        </p:nvSpPr>
        <p:spPr>
          <a:xfrm>
            <a:off x="1154954" y="1476103"/>
            <a:ext cx="10340359" cy="4820194"/>
          </a:xfrm>
        </p:spPr>
        <p:txBody>
          <a:bodyPr>
            <a:normAutofit fontScale="92500" lnSpcReduction="20000"/>
          </a:bodyPr>
          <a:lstStyle/>
          <a:p>
            <a:pPr algn="just">
              <a:lnSpc>
                <a:spcPct val="170000"/>
              </a:lnSpc>
              <a:spcBef>
                <a:spcPts val="0"/>
              </a:spcBef>
            </a:pPr>
            <a:r>
              <a:rPr lang="en-GB" dirty="0">
                <a:solidFill>
                  <a:srgbClr val="FFC000"/>
                </a:solidFill>
                <a:latin typeface="Arial Narrow" panose="020B0606020202030204" pitchFamily="34" charset="0"/>
                <a:ea typeface="Times New Roman" panose="02020603050405020304" pitchFamily="18" charset="0"/>
                <a:cs typeface="Arial" panose="020B0604020202020204" pitchFamily="34" charset="0"/>
              </a:rPr>
              <a:t>The </a:t>
            </a:r>
            <a:r>
              <a:rPr lang="en-GB" dirty="0" smtClean="0">
                <a:solidFill>
                  <a:srgbClr val="FFC000"/>
                </a:solidFill>
                <a:latin typeface="Arial Narrow" panose="020B0606020202030204" pitchFamily="34" charset="0"/>
                <a:ea typeface="Times New Roman" panose="02020603050405020304" pitchFamily="18" charset="0"/>
                <a:cs typeface="Arial" panose="020B0604020202020204" pitchFamily="34" charset="0"/>
              </a:rPr>
              <a:t>NIDA-Pak </a:t>
            </a:r>
            <a:r>
              <a:rPr lang="en-GB" dirty="0">
                <a:solidFill>
                  <a:srgbClr val="FFC000"/>
                </a:solidFill>
                <a:latin typeface="Arial Narrow" panose="020B0606020202030204" pitchFamily="34" charset="0"/>
                <a:ea typeface="Times New Roman" panose="02020603050405020304" pitchFamily="18" charset="0"/>
                <a:cs typeface="Arial" panose="020B0604020202020204" pitchFamily="34" charset="0"/>
              </a:rPr>
              <a:t>must ensure that their staffs operate in the safest possible manner despite being required to operate in potentially life threatening situations. The following policies have therefore been developed and </a:t>
            </a:r>
            <a:r>
              <a:rPr lang="en-GB" b="1" dirty="0">
                <a:solidFill>
                  <a:srgbClr val="FFC000"/>
                </a:solidFill>
                <a:latin typeface="Arial Narrow" panose="020B0606020202030204" pitchFamily="34" charset="0"/>
                <a:ea typeface="Times New Roman" panose="02020603050405020304" pitchFamily="18" charset="0"/>
                <a:cs typeface="Arial" panose="020B0604020202020204" pitchFamily="34" charset="0"/>
              </a:rPr>
              <a:t>must</a:t>
            </a:r>
            <a:r>
              <a:rPr lang="en-GB" dirty="0">
                <a:solidFill>
                  <a:srgbClr val="FFC000"/>
                </a:solidFill>
                <a:latin typeface="Arial Narrow" panose="020B0606020202030204" pitchFamily="34" charset="0"/>
                <a:ea typeface="Times New Roman" panose="02020603050405020304" pitchFamily="18" charset="0"/>
                <a:cs typeface="Arial" panose="020B0604020202020204" pitchFamily="34" charset="0"/>
              </a:rPr>
              <a:t> be read and signed by each </a:t>
            </a:r>
            <a:r>
              <a:rPr lang="en-GB" dirty="0" smtClean="0">
                <a:solidFill>
                  <a:srgbClr val="FFC000"/>
                </a:solidFill>
                <a:latin typeface="Arial Narrow" panose="020B0606020202030204" pitchFamily="34" charset="0"/>
                <a:ea typeface="Times New Roman" panose="02020603050405020304" pitchFamily="18" charset="0"/>
                <a:cs typeface="Arial" panose="020B0604020202020204" pitchFamily="34" charset="0"/>
              </a:rPr>
              <a:t>NIDA-Pak’s </a:t>
            </a:r>
            <a:r>
              <a:rPr lang="en-GB" dirty="0">
                <a:solidFill>
                  <a:srgbClr val="FFC000"/>
                </a:solidFill>
                <a:latin typeface="Arial Narrow" panose="020B0606020202030204" pitchFamily="34" charset="0"/>
                <a:ea typeface="Times New Roman" panose="02020603050405020304" pitchFamily="18" charset="0"/>
                <a:cs typeface="Arial" panose="020B0604020202020204" pitchFamily="34" charset="0"/>
              </a:rPr>
              <a:t>employee as part of the contractual process of employment.</a:t>
            </a:r>
            <a:endParaRPr lang="en-US" dirty="0">
              <a:solidFill>
                <a:srgbClr val="FFC000"/>
              </a:solidFill>
              <a:latin typeface="Times New Roman" panose="02020603050405020304" pitchFamily="18" charset="0"/>
              <a:ea typeface="Times New Roman" panose="02020603050405020304" pitchFamily="18" charset="0"/>
            </a:endParaRPr>
          </a:p>
          <a:p>
            <a:pPr algn="just">
              <a:spcBef>
                <a:spcPts val="0"/>
              </a:spcBef>
            </a:pPr>
            <a:r>
              <a:rPr lang="en-GB" sz="2000" dirty="0">
                <a:solidFill>
                  <a:srgbClr val="FFC000"/>
                </a:solidFill>
                <a:latin typeface="Arial Narrow" panose="020B0606020202030204" pitchFamily="34" charset="0"/>
                <a:ea typeface="Times New Roman" panose="02020603050405020304" pitchFamily="18" charset="0"/>
                <a:cs typeface="Arial" panose="020B0604020202020204" pitchFamily="34" charset="0"/>
              </a:rPr>
              <a:t> </a:t>
            </a:r>
            <a:endParaRPr lang="en-US" dirty="0">
              <a:solidFill>
                <a:srgbClr val="FFC000"/>
              </a:solidFill>
              <a:latin typeface="Times New Roman" panose="02020603050405020304" pitchFamily="18" charset="0"/>
              <a:ea typeface="Times New Roman" panose="02020603050405020304" pitchFamily="18" charset="0"/>
            </a:endParaRPr>
          </a:p>
          <a:p>
            <a:pPr algn="just">
              <a:spcBef>
                <a:spcPts val="0"/>
              </a:spcBef>
            </a:pPr>
            <a:r>
              <a:rPr lang="en-GB" sz="2000" b="1" u="sng" dirty="0">
                <a:solidFill>
                  <a:srgbClr val="FFC000"/>
                </a:solidFill>
                <a:latin typeface="Arial Narrow" panose="020B0606020202030204" pitchFamily="34" charset="0"/>
                <a:ea typeface="Times New Roman" panose="02020603050405020304" pitchFamily="18" charset="0"/>
              </a:rPr>
              <a:t>Scope</a:t>
            </a:r>
            <a:endParaRPr lang="en-US" dirty="0">
              <a:solidFill>
                <a:srgbClr val="FFC000"/>
              </a:solidFill>
              <a:latin typeface="Arial" panose="020B0604020202020204" pitchFamily="34" charset="0"/>
              <a:ea typeface="Times New Roman" panose="02020603050405020304" pitchFamily="18" charset="0"/>
            </a:endParaRPr>
          </a:p>
          <a:p>
            <a:pPr algn="just">
              <a:spcBef>
                <a:spcPts val="0"/>
              </a:spcBef>
            </a:pPr>
            <a:r>
              <a:rPr lang="en-GB" dirty="0">
                <a:solidFill>
                  <a:srgbClr val="FFC000"/>
                </a:solidFill>
                <a:latin typeface="Arial Narrow" panose="020B0606020202030204" pitchFamily="34" charset="0"/>
                <a:ea typeface="Times New Roman" panose="02020603050405020304" pitchFamily="18" charset="0"/>
                <a:cs typeface="Arial" panose="020B0604020202020204" pitchFamily="34" charset="0"/>
              </a:rPr>
              <a:t> </a:t>
            </a:r>
            <a:endParaRPr lang="en-US" dirty="0">
              <a:solidFill>
                <a:srgbClr val="FFC000"/>
              </a:solidFill>
              <a:latin typeface="Times New Roman" panose="02020603050405020304" pitchFamily="18" charset="0"/>
              <a:ea typeface="Times New Roman" panose="02020603050405020304" pitchFamily="18" charset="0"/>
            </a:endParaRPr>
          </a:p>
          <a:p>
            <a:pPr algn="just">
              <a:lnSpc>
                <a:spcPct val="170000"/>
              </a:lnSpc>
              <a:spcBef>
                <a:spcPts val="0"/>
              </a:spcBef>
            </a:pPr>
            <a:r>
              <a:rPr lang="en-GB" dirty="0">
                <a:solidFill>
                  <a:srgbClr val="FFC000"/>
                </a:solidFill>
                <a:latin typeface="Arial Narrow" panose="020B0606020202030204" pitchFamily="34" charset="0"/>
                <a:ea typeface="Times New Roman" panose="02020603050405020304" pitchFamily="18" charset="0"/>
                <a:cs typeface="Arial" panose="020B0604020202020204" pitchFamily="34" charset="0"/>
              </a:rPr>
              <a:t>These Security Policies establish for the safety &amp; security of </a:t>
            </a:r>
            <a:r>
              <a:rPr lang="en-GB" dirty="0" smtClean="0">
                <a:solidFill>
                  <a:srgbClr val="FFC000"/>
                </a:solidFill>
                <a:latin typeface="Arial Narrow" panose="020B0606020202030204" pitchFamily="34" charset="0"/>
                <a:ea typeface="Times New Roman" panose="02020603050405020304" pitchFamily="18" charset="0"/>
                <a:cs typeface="Arial" panose="020B0604020202020204" pitchFamily="34" charset="0"/>
              </a:rPr>
              <a:t>NIDA-PAK’s </a:t>
            </a:r>
            <a:r>
              <a:rPr lang="en-GB" dirty="0">
                <a:solidFill>
                  <a:srgbClr val="FFC000"/>
                </a:solidFill>
                <a:latin typeface="Arial Narrow" panose="020B0606020202030204" pitchFamily="34" charset="0"/>
                <a:ea typeface="Times New Roman" panose="02020603050405020304" pitchFamily="18" charset="0"/>
                <a:cs typeface="Arial" panose="020B0604020202020204" pitchFamily="34" charset="0"/>
              </a:rPr>
              <a:t>and applies to all staff contracted by </a:t>
            </a:r>
            <a:r>
              <a:rPr lang="en-GB" dirty="0" smtClean="0">
                <a:solidFill>
                  <a:srgbClr val="FFC000"/>
                </a:solidFill>
                <a:latin typeface="Arial Narrow" panose="020B0606020202030204" pitchFamily="34" charset="0"/>
                <a:ea typeface="Times New Roman" panose="02020603050405020304" pitchFamily="18" charset="0"/>
                <a:cs typeface="Arial" panose="020B0604020202020204" pitchFamily="34" charset="0"/>
              </a:rPr>
              <a:t>NIDA-PAK.</a:t>
            </a:r>
            <a:endParaRPr lang="en-US" dirty="0">
              <a:solidFill>
                <a:srgbClr val="FFC000"/>
              </a:solidFill>
              <a:latin typeface="Times New Roman" panose="02020603050405020304" pitchFamily="18" charset="0"/>
              <a:ea typeface="Times New Roman" panose="02020603050405020304" pitchFamily="18" charset="0"/>
            </a:endParaRPr>
          </a:p>
          <a:p>
            <a:pPr algn="just">
              <a:spcBef>
                <a:spcPts val="0"/>
              </a:spcBef>
            </a:pPr>
            <a:r>
              <a:rPr lang="en-GB" dirty="0">
                <a:solidFill>
                  <a:srgbClr val="FFC000"/>
                </a:solidFill>
                <a:latin typeface="Arial Narrow" panose="020B0606020202030204" pitchFamily="34" charset="0"/>
                <a:ea typeface="Times New Roman" panose="02020603050405020304" pitchFamily="18" charset="0"/>
                <a:cs typeface="Arial" panose="020B0604020202020204" pitchFamily="34" charset="0"/>
              </a:rPr>
              <a:t> </a:t>
            </a:r>
            <a:endParaRPr lang="en-US" dirty="0">
              <a:solidFill>
                <a:srgbClr val="FFC000"/>
              </a:solidFill>
              <a:latin typeface="Times New Roman" panose="02020603050405020304" pitchFamily="18" charset="0"/>
              <a:ea typeface="Times New Roman" panose="02020603050405020304" pitchFamily="18" charset="0"/>
            </a:endParaRPr>
          </a:p>
          <a:p>
            <a:pPr algn="just">
              <a:spcBef>
                <a:spcPts val="0"/>
              </a:spcBef>
            </a:pPr>
            <a:r>
              <a:rPr lang="en-GB" sz="2000" b="1" u="sng" dirty="0" smtClean="0">
                <a:solidFill>
                  <a:srgbClr val="FFC000"/>
                </a:solidFill>
                <a:latin typeface="Arial Narrow" panose="020B0606020202030204" pitchFamily="34" charset="0"/>
                <a:ea typeface="Times New Roman" panose="02020603050405020304" pitchFamily="18" charset="0"/>
              </a:rPr>
              <a:t>Statement</a:t>
            </a:r>
            <a:r>
              <a:rPr lang="en-GB" b="1" u="sng" dirty="0" smtClean="0">
                <a:solidFill>
                  <a:srgbClr val="FFC000"/>
                </a:solidFill>
                <a:latin typeface="Arial Narrow" panose="020B0606020202030204" pitchFamily="34" charset="0"/>
                <a:ea typeface="Times New Roman" panose="02020603050405020304" pitchFamily="18" charset="0"/>
              </a:rPr>
              <a:t> </a:t>
            </a:r>
            <a:endParaRPr lang="en-US" dirty="0">
              <a:solidFill>
                <a:srgbClr val="FFC000"/>
              </a:solidFill>
              <a:latin typeface="Arial" panose="020B0604020202020204" pitchFamily="34" charset="0"/>
              <a:ea typeface="Times New Roman" panose="02020603050405020304" pitchFamily="18" charset="0"/>
            </a:endParaRPr>
          </a:p>
          <a:p>
            <a:pPr algn="just">
              <a:spcBef>
                <a:spcPts val="0"/>
              </a:spcBef>
            </a:pPr>
            <a:r>
              <a:rPr lang="en-GB" dirty="0">
                <a:solidFill>
                  <a:srgbClr val="FFC000"/>
                </a:solidFill>
                <a:latin typeface="Arial Narrow" panose="020B0606020202030204" pitchFamily="34" charset="0"/>
                <a:ea typeface="Times New Roman" panose="02020603050405020304" pitchFamily="18" charset="0"/>
                <a:cs typeface="Arial" panose="020B0604020202020204" pitchFamily="34" charset="0"/>
              </a:rPr>
              <a:t> </a:t>
            </a:r>
            <a:endParaRPr lang="en-US" dirty="0">
              <a:solidFill>
                <a:srgbClr val="FFC000"/>
              </a:solidFill>
              <a:latin typeface="Times New Roman" panose="02020603050405020304" pitchFamily="18" charset="0"/>
              <a:ea typeface="Times New Roman" panose="02020603050405020304" pitchFamily="18" charset="0"/>
            </a:endParaRPr>
          </a:p>
          <a:p>
            <a:pPr algn="just">
              <a:lnSpc>
                <a:spcPct val="170000"/>
              </a:lnSpc>
              <a:spcBef>
                <a:spcPts val="0"/>
              </a:spcBef>
            </a:pPr>
            <a:r>
              <a:rPr lang="en-GB" dirty="0">
                <a:solidFill>
                  <a:srgbClr val="FFC000"/>
                </a:solidFill>
                <a:latin typeface="Arial Narrow" panose="020B0606020202030204" pitchFamily="34" charset="0"/>
                <a:ea typeface="Times New Roman" panose="02020603050405020304" pitchFamily="18" charset="0"/>
                <a:cs typeface="Arial" panose="020B0604020202020204" pitchFamily="34" charset="0"/>
              </a:rPr>
              <a:t>It is </a:t>
            </a:r>
            <a:r>
              <a:rPr lang="en-GB" dirty="0" smtClean="0">
                <a:solidFill>
                  <a:srgbClr val="FFC000"/>
                </a:solidFill>
                <a:latin typeface="Arial Narrow" panose="020B0606020202030204" pitchFamily="34" charset="0"/>
                <a:ea typeface="Times New Roman" panose="02020603050405020304" pitchFamily="18" charset="0"/>
                <a:cs typeface="Arial" panose="020B0604020202020204" pitchFamily="34" charset="0"/>
              </a:rPr>
              <a:t>NIDA-PAK’s </a:t>
            </a:r>
            <a:r>
              <a:rPr lang="en-GB" dirty="0">
                <a:solidFill>
                  <a:srgbClr val="FFC000"/>
                </a:solidFill>
                <a:latin typeface="Arial Narrow" panose="020B0606020202030204" pitchFamily="34" charset="0"/>
                <a:ea typeface="Times New Roman" panose="02020603050405020304" pitchFamily="18" charset="0"/>
                <a:cs typeface="Arial" panose="020B0604020202020204" pitchFamily="34" charset="0"/>
              </a:rPr>
              <a:t>primary concern to ensure safe working conditions at all time. All staff of the </a:t>
            </a:r>
            <a:r>
              <a:rPr lang="en-GB" dirty="0" smtClean="0">
                <a:solidFill>
                  <a:srgbClr val="FFC000"/>
                </a:solidFill>
                <a:latin typeface="Arial Narrow" panose="020B0606020202030204" pitchFamily="34" charset="0"/>
                <a:ea typeface="Times New Roman" panose="02020603050405020304" pitchFamily="18" charset="0"/>
                <a:cs typeface="Arial" panose="020B0604020202020204" pitchFamily="34" charset="0"/>
              </a:rPr>
              <a:t>NIDA-PAK </a:t>
            </a:r>
            <a:r>
              <a:rPr lang="en-GB" dirty="0">
                <a:solidFill>
                  <a:srgbClr val="FFC000"/>
                </a:solidFill>
                <a:latin typeface="Arial Narrow" panose="020B0606020202030204" pitchFamily="34" charset="0"/>
                <a:ea typeface="Times New Roman" panose="02020603050405020304" pitchFamily="18" charset="0"/>
                <a:cs typeface="Arial" panose="020B0604020202020204" pitchFamily="34" charset="0"/>
              </a:rPr>
              <a:t>must adhere to the following security policies:</a:t>
            </a:r>
            <a:endParaRPr lang="en-US" dirty="0">
              <a:solidFill>
                <a:srgbClr val="FFC000"/>
              </a:solidFill>
              <a:latin typeface="Times New Roman" panose="02020603050405020304" pitchFamily="18" charset="0"/>
              <a:ea typeface="Times New Roman" panose="02020603050405020304" pitchFamily="18" charset="0"/>
            </a:endParaRPr>
          </a:p>
          <a:p>
            <a:endParaRPr lang="en-US" dirty="0">
              <a:solidFill>
                <a:srgbClr val="FFC000"/>
              </a:solidFill>
            </a:endParaRPr>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9848963" y="498747"/>
            <a:ext cx="1778000" cy="539750"/>
          </a:xfrm>
          <a:prstGeom prst="rect">
            <a:avLst/>
          </a:prstGeom>
        </p:spPr>
      </p:pic>
    </p:spTree>
    <p:extLst>
      <p:ext uri="{BB962C8B-B14F-4D97-AF65-F5344CB8AC3E}">
        <p14:creationId xmlns:p14="http://schemas.microsoft.com/office/powerpoint/2010/main" val="27122496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640081"/>
            <a:ext cx="8825658" cy="2076994"/>
          </a:xfrm>
        </p:spPr>
        <p:txBody>
          <a:bodyPr/>
          <a:lstStyle/>
          <a:p>
            <a:pPr marL="342900" marR="0" lvl="0" indent="-342900">
              <a:spcBef>
                <a:spcPts val="1200"/>
              </a:spcBef>
              <a:spcAft>
                <a:spcPts val="300"/>
              </a:spcAft>
              <a:tabLst>
                <a:tab pos="228600" algn="l"/>
              </a:tabLst>
            </a:pPr>
            <a:r>
              <a:rPr lang="en-GB" b="1" dirty="0">
                <a:solidFill>
                  <a:srgbClr val="0000FF"/>
                </a:solidFill>
                <a:latin typeface="Arial Narrow" panose="020B0606020202030204" pitchFamily="34" charset="0"/>
              </a:rPr>
              <a:t>Impartiality</a:t>
            </a:r>
            <a:r>
              <a:rPr lang="en-US" b="1" dirty="0">
                <a:solidFill>
                  <a:srgbClr val="0000FF"/>
                </a:solidFill>
                <a:latin typeface="Arial Narrow" panose="020B0606020202030204" pitchFamily="34" charset="0"/>
              </a:rPr>
              <a:t/>
            </a:r>
            <a:br>
              <a:rPr lang="en-US" b="1" dirty="0">
                <a:solidFill>
                  <a:srgbClr val="0000FF"/>
                </a:solidFill>
                <a:latin typeface="Arial Narrow" panose="020B0606020202030204" pitchFamily="34" charset="0"/>
              </a:rPr>
            </a:br>
            <a:endParaRPr lang="en-US" dirty="0"/>
          </a:p>
        </p:txBody>
      </p:sp>
      <p:sp>
        <p:nvSpPr>
          <p:cNvPr id="3" name="Subtitle 2"/>
          <p:cNvSpPr>
            <a:spLocks noGrp="1"/>
          </p:cNvSpPr>
          <p:nvPr>
            <p:ph type="subTitle" idx="1"/>
          </p:nvPr>
        </p:nvSpPr>
        <p:spPr>
          <a:xfrm>
            <a:off x="1154955" y="2155371"/>
            <a:ext cx="10052976" cy="3483429"/>
          </a:xfrm>
        </p:spPr>
        <p:txBody>
          <a:bodyPr>
            <a:normAutofit/>
          </a:bodyPr>
          <a:lstStyle/>
          <a:p>
            <a:pPr algn="just">
              <a:lnSpc>
                <a:spcPct val="160000"/>
              </a:lnSpc>
              <a:spcBef>
                <a:spcPts val="0"/>
              </a:spcBef>
            </a:pPr>
            <a:r>
              <a:rPr lang="en-GB" sz="2800" dirty="0" smtClean="0">
                <a:solidFill>
                  <a:srgbClr val="FFC000"/>
                </a:solidFill>
                <a:latin typeface="Arial Narrow" panose="020B0606020202030204" pitchFamily="34" charset="0"/>
                <a:ea typeface="Times New Roman" panose="02020603050405020304" pitchFamily="18" charset="0"/>
              </a:rPr>
              <a:t>NIDA-PAK </a:t>
            </a:r>
            <a:r>
              <a:rPr lang="en-GB" sz="2800" dirty="0">
                <a:solidFill>
                  <a:srgbClr val="FFC000"/>
                </a:solidFill>
                <a:latin typeface="Arial Narrow" panose="020B0606020202030204" pitchFamily="34" charset="0"/>
                <a:ea typeface="Times New Roman" panose="02020603050405020304" pitchFamily="18" charset="0"/>
              </a:rPr>
              <a:t>is impartial and while it may highlight oppression, it takes no side in conflict.  All </a:t>
            </a:r>
            <a:r>
              <a:rPr lang="en-GB" sz="2800" dirty="0" smtClean="0">
                <a:solidFill>
                  <a:srgbClr val="FFC000"/>
                </a:solidFill>
                <a:latin typeface="Arial Narrow" panose="020B0606020202030204" pitchFamily="34" charset="0"/>
                <a:ea typeface="Times New Roman" panose="02020603050405020304" pitchFamily="18" charset="0"/>
              </a:rPr>
              <a:t>NIDA-PAK </a:t>
            </a:r>
            <a:r>
              <a:rPr lang="en-GB" sz="2800" dirty="0">
                <a:solidFill>
                  <a:srgbClr val="FFC000"/>
                </a:solidFill>
                <a:latin typeface="Arial Narrow" panose="020B0606020202030204" pitchFamily="34" charset="0"/>
                <a:ea typeface="Times New Roman" panose="02020603050405020304" pitchFamily="18" charset="0"/>
              </a:rPr>
              <a:t>staff is expected to rigorously maintain this impartiality, both in substance and appearance.</a:t>
            </a:r>
            <a:endParaRPr lang="en-US" sz="2800" dirty="0">
              <a:solidFill>
                <a:srgbClr val="FFC000"/>
              </a:solidFill>
              <a:latin typeface="Arial Narrow" panose="020B0606020202030204" pitchFamily="34" charset="0"/>
              <a:ea typeface="Times New Roman" panose="02020603050405020304" pitchFamily="18" charset="0"/>
            </a:endParaRPr>
          </a:p>
          <a:p>
            <a:endParaRPr lang="en-US" dirty="0"/>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9705272" y="588101"/>
            <a:ext cx="1778000" cy="539750"/>
          </a:xfrm>
          <a:prstGeom prst="rect">
            <a:avLst/>
          </a:prstGeom>
        </p:spPr>
      </p:pic>
    </p:spTree>
    <p:extLst>
      <p:ext uri="{BB962C8B-B14F-4D97-AF65-F5344CB8AC3E}">
        <p14:creationId xmlns:p14="http://schemas.microsoft.com/office/powerpoint/2010/main" val="5591084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692331"/>
            <a:ext cx="8825658" cy="1136469"/>
          </a:xfrm>
        </p:spPr>
        <p:txBody>
          <a:bodyPr/>
          <a:lstStyle/>
          <a:p>
            <a:r>
              <a:rPr lang="en-GB" dirty="0">
                <a:latin typeface="Times New Roman" panose="02020603050405020304" pitchFamily="18" charset="0"/>
                <a:ea typeface="Times New Roman" panose="02020603050405020304" pitchFamily="18" charset="0"/>
              </a:rPr>
              <a:t>Primacy to life</a:t>
            </a:r>
            <a:endParaRPr lang="en-US" dirty="0"/>
          </a:p>
        </p:txBody>
      </p:sp>
      <p:sp>
        <p:nvSpPr>
          <p:cNvPr id="3" name="Subtitle 2"/>
          <p:cNvSpPr>
            <a:spLocks noGrp="1"/>
          </p:cNvSpPr>
          <p:nvPr>
            <p:ph type="subTitle" idx="1"/>
          </p:nvPr>
        </p:nvSpPr>
        <p:spPr>
          <a:xfrm>
            <a:off x="1154954" y="1959429"/>
            <a:ext cx="10092165" cy="3679371"/>
          </a:xfrm>
        </p:spPr>
        <p:txBody>
          <a:bodyPr>
            <a:normAutofit/>
          </a:bodyPr>
          <a:lstStyle/>
          <a:p>
            <a:pPr algn="just">
              <a:lnSpc>
                <a:spcPct val="170000"/>
              </a:lnSpc>
              <a:spcBef>
                <a:spcPts val="0"/>
              </a:spcBef>
            </a:pPr>
            <a:r>
              <a:rPr lang="en-GB" sz="2400" dirty="0">
                <a:solidFill>
                  <a:srgbClr val="FFC000"/>
                </a:solidFill>
                <a:latin typeface="Arial Narrow" panose="020B0606020202030204" pitchFamily="34" charset="0"/>
                <a:ea typeface="Times New Roman" panose="02020603050405020304" pitchFamily="18" charset="0"/>
              </a:rPr>
              <a:t>While </a:t>
            </a:r>
            <a:r>
              <a:rPr lang="en-GB" sz="2400" dirty="0" smtClean="0">
                <a:solidFill>
                  <a:srgbClr val="FFC000"/>
                </a:solidFill>
                <a:latin typeface="Arial Narrow" panose="020B0606020202030204" pitchFamily="34" charset="0"/>
                <a:ea typeface="Times New Roman" panose="02020603050405020304" pitchFamily="18" charset="0"/>
              </a:rPr>
              <a:t>NIDA-PAK’s </a:t>
            </a:r>
            <a:r>
              <a:rPr lang="en-GB" sz="2400" dirty="0">
                <a:solidFill>
                  <a:srgbClr val="FFC000"/>
                </a:solidFill>
                <a:latin typeface="Arial Narrow" panose="020B0606020202030204" pitchFamily="34" charset="0"/>
                <a:ea typeface="Times New Roman" panose="02020603050405020304" pitchFamily="18" charset="0"/>
              </a:rPr>
              <a:t>staff are expected to exercise all due care and diligence to protect the assets which </a:t>
            </a:r>
            <a:r>
              <a:rPr lang="en-GB" sz="2400" dirty="0" smtClean="0">
                <a:solidFill>
                  <a:srgbClr val="FFC000"/>
                </a:solidFill>
                <a:latin typeface="Arial Narrow" panose="020B0606020202030204" pitchFamily="34" charset="0"/>
                <a:ea typeface="Times New Roman" panose="02020603050405020304" pitchFamily="18" charset="0"/>
              </a:rPr>
              <a:t>NIDA-PAK’s </a:t>
            </a:r>
            <a:r>
              <a:rPr lang="en-GB" sz="2400" dirty="0">
                <a:solidFill>
                  <a:srgbClr val="FFC000"/>
                </a:solidFill>
                <a:latin typeface="Arial Narrow" panose="020B0606020202030204" pitchFamily="34" charset="0"/>
                <a:ea typeface="Times New Roman" panose="02020603050405020304" pitchFamily="18" charset="0"/>
              </a:rPr>
              <a:t>donors have entrusted it with, no </a:t>
            </a:r>
            <a:r>
              <a:rPr lang="en-GB" sz="2400" dirty="0" smtClean="0">
                <a:solidFill>
                  <a:srgbClr val="FFC000"/>
                </a:solidFill>
                <a:latin typeface="Arial Narrow" panose="020B0606020202030204" pitchFamily="34" charset="0"/>
                <a:ea typeface="Times New Roman" panose="02020603050405020304" pitchFamily="18" charset="0"/>
              </a:rPr>
              <a:t>NIDA-PAK’s </a:t>
            </a:r>
            <a:r>
              <a:rPr lang="en-GB" sz="2400" dirty="0">
                <a:solidFill>
                  <a:srgbClr val="FFC000"/>
                </a:solidFill>
                <a:latin typeface="Arial Narrow" panose="020B0606020202030204" pitchFamily="34" charset="0"/>
                <a:ea typeface="Times New Roman" panose="02020603050405020304" pitchFamily="18" charset="0"/>
              </a:rPr>
              <a:t>staff member should put their own lives at risk in order to protect </a:t>
            </a:r>
            <a:r>
              <a:rPr lang="en-GB" sz="2400" dirty="0" smtClean="0">
                <a:solidFill>
                  <a:srgbClr val="FFC000"/>
                </a:solidFill>
                <a:latin typeface="Arial Narrow" panose="020B0606020202030204" pitchFamily="34" charset="0"/>
                <a:ea typeface="Times New Roman" panose="02020603050405020304" pitchFamily="18" charset="0"/>
              </a:rPr>
              <a:t>NIDA-PAK’s </a:t>
            </a:r>
            <a:r>
              <a:rPr lang="en-GB" sz="2400" dirty="0">
                <a:solidFill>
                  <a:srgbClr val="FFC000"/>
                </a:solidFill>
                <a:latin typeface="Arial Narrow" panose="020B0606020202030204" pitchFamily="34" charset="0"/>
                <a:ea typeface="Times New Roman" panose="02020603050405020304" pitchFamily="18" charset="0"/>
              </a:rPr>
              <a:t>property, or while scrupulously adhering to </a:t>
            </a:r>
            <a:r>
              <a:rPr lang="en-GB" sz="2400" dirty="0" smtClean="0">
                <a:solidFill>
                  <a:srgbClr val="FFC000"/>
                </a:solidFill>
                <a:latin typeface="Arial Narrow" panose="020B0606020202030204" pitchFamily="34" charset="0"/>
                <a:ea typeface="Times New Roman" panose="02020603050405020304" pitchFamily="18" charset="0"/>
              </a:rPr>
              <a:t>NIDA-PAK policy</a:t>
            </a:r>
            <a:r>
              <a:rPr lang="en-GB" sz="2400" dirty="0">
                <a:solidFill>
                  <a:srgbClr val="FFC000"/>
                </a:solidFill>
                <a:latin typeface="Arial Narrow" panose="020B0606020202030204" pitchFamily="34" charset="0"/>
                <a:ea typeface="Times New Roman" panose="02020603050405020304" pitchFamily="18" charset="0"/>
              </a:rPr>
              <a:t>.</a:t>
            </a:r>
            <a:endParaRPr lang="en-US" sz="2400" dirty="0">
              <a:solidFill>
                <a:srgbClr val="FFC000"/>
              </a:solidFill>
              <a:latin typeface="Arial Narrow" panose="020B0606020202030204" pitchFamily="34" charset="0"/>
              <a:ea typeface="Times New Roman" panose="02020603050405020304" pitchFamily="18" charset="0"/>
            </a:endParaRPr>
          </a:p>
          <a:p>
            <a:endParaRPr lang="en-US" dirty="0"/>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9818189" y="561702"/>
            <a:ext cx="1778000" cy="539750"/>
          </a:xfrm>
          <a:prstGeom prst="rect">
            <a:avLst/>
          </a:prstGeom>
        </p:spPr>
      </p:pic>
    </p:spTree>
    <p:extLst>
      <p:ext uri="{BB962C8B-B14F-4D97-AF65-F5344CB8AC3E}">
        <p14:creationId xmlns:p14="http://schemas.microsoft.com/office/powerpoint/2010/main" val="40317723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692331"/>
            <a:ext cx="8825658" cy="1750423"/>
          </a:xfrm>
        </p:spPr>
        <p:txBody>
          <a:bodyPr/>
          <a:lstStyle/>
          <a:p>
            <a:pPr marL="0" marR="0">
              <a:spcBef>
                <a:spcPts val="1200"/>
              </a:spcBef>
              <a:spcAft>
                <a:spcPts val="300"/>
              </a:spcAft>
            </a:pPr>
            <a:r>
              <a:rPr lang="en-GB" b="1" dirty="0">
                <a:solidFill>
                  <a:srgbClr val="0000FF"/>
                </a:solidFill>
                <a:latin typeface="Arial Narrow" panose="020B0606020202030204" pitchFamily="34" charset="0"/>
              </a:rPr>
              <a:t>Proportionate/acceptable risk</a:t>
            </a:r>
            <a:r>
              <a:rPr lang="en-US" b="1" dirty="0">
                <a:solidFill>
                  <a:srgbClr val="0000FF"/>
                </a:solidFill>
                <a:latin typeface="Arial Narrow" panose="020B0606020202030204" pitchFamily="34" charset="0"/>
              </a:rPr>
              <a:t/>
            </a:r>
            <a:br>
              <a:rPr lang="en-US" b="1" dirty="0">
                <a:solidFill>
                  <a:srgbClr val="0000FF"/>
                </a:solidFill>
                <a:latin typeface="Arial Narrow" panose="020B0606020202030204" pitchFamily="34" charset="0"/>
              </a:rPr>
            </a:br>
            <a:endParaRPr lang="en-US" dirty="0"/>
          </a:p>
        </p:txBody>
      </p:sp>
      <p:sp>
        <p:nvSpPr>
          <p:cNvPr id="3" name="Subtitle 2"/>
          <p:cNvSpPr>
            <a:spLocks noGrp="1"/>
          </p:cNvSpPr>
          <p:nvPr>
            <p:ph type="subTitle" idx="1"/>
          </p:nvPr>
        </p:nvSpPr>
        <p:spPr>
          <a:xfrm>
            <a:off x="1154954" y="1815737"/>
            <a:ext cx="10118291" cy="4062549"/>
          </a:xfrm>
        </p:spPr>
        <p:txBody>
          <a:bodyPr>
            <a:normAutofit/>
          </a:bodyPr>
          <a:lstStyle/>
          <a:p>
            <a:pPr algn="just">
              <a:lnSpc>
                <a:spcPct val="160000"/>
              </a:lnSpc>
              <a:spcBef>
                <a:spcPts val="0"/>
              </a:spcBef>
            </a:pPr>
            <a:r>
              <a:rPr lang="en-GB" sz="2800" dirty="0">
                <a:solidFill>
                  <a:srgbClr val="FFC000"/>
                </a:solidFill>
                <a:latin typeface="Arial Narrow" panose="020B0606020202030204" pitchFamily="34" charset="0"/>
                <a:ea typeface="Times New Roman" panose="02020603050405020304" pitchFamily="18" charset="0"/>
              </a:rPr>
              <a:t>It is impossible to conduct the type of work undertaken by </a:t>
            </a:r>
            <a:r>
              <a:rPr lang="en-GB" sz="2800" dirty="0" smtClean="0">
                <a:solidFill>
                  <a:srgbClr val="FFC000"/>
                </a:solidFill>
                <a:latin typeface="Arial Narrow" panose="020B0606020202030204" pitchFamily="34" charset="0"/>
                <a:ea typeface="Times New Roman" panose="02020603050405020304" pitchFamily="18" charset="0"/>
              </a:rPr>
              <a:t>NIDA-PAK </a:t>
            </a:r>
            <a:r>
              <a:rPr lang="en-GB" sz="2800" dirty="0">
                <a:solidFill>
                  <a:srgbClr val="FFC000"/>
                </a:solidFill>
                <a:latin typeface="Arial Narrow" panose="020B0606020202030204" pitchFamily="34" charset="0"/>
                <a:ea typeface="Times New Roman" panose="02020603050405020304" pitchFamily="18" charset="0"/>
              </a:rPr>
              <a:t>without a degree of exposure to risk.  However, the benefit from work that can be achieved must always outweigh the risks involved in doing it.  </a:t>
            </a:r>
            <a:endParaRPr lang="en-US" sz="2800" dirty="0">
              <a:solidFill>
                <a:srgbClr val="FFC000"/>
              </a:solidFill>
              <a:latin typeface="Arial Narrow" panose="020B0606020202030204" pitchFamily="34" charset="0"/>
              <a:ea typeface="Times New Roman" panose="02020603050405020304" pitchFamily="18" charset="0"/>
            </a:endParaRPr>
          </a:p>
          <a:p>
            <a:endParaRPr lang="en-US" sz="2800" dirty="0">
              <a:latin typeface="Arial Narrow" panose="020B0606020202030204" pitchFamily="34" charset="0"/>
            </a:endParaRPr>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9831252" y="559616"/>
            <a:ext cx="1778000" cy="539750"/>
          </a:xfrm>
          <a:prstGeom prst="rect">
            <a:avLst/>
          </a:prstGeom>
        </p:spPr>
      </p:pic>
    </p:spTree>
    <p:extLst>
      <p:ext uri="{BB962C8B-B14F-4D97-AF65-F5344CB8AC3E}">
        <p14:creationId xmlns:p14="http://schemas.microsoft.com/office/powerpoint/2010/main" val="37769261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679269"/>
            <a:ext cx="10131354" cy="979714"/>
          </a:xfrm>
        </p:spPr>
        <p:txBody>
          <a:bodyPr/>
          <a:lstStyle/>
          <a:p>
            <a:r>
              <a:rPr lang="en-GB" dirty="0" smtClean="0">
                <a:latin typeface="Times New Roman" panose="02020603050405020304" pitchFamily="18" charset="0"/>
                <a:ea typeface="Times New Roman" panose="02020603050405020304" pitchFamily="18" charset="0"/>
              </a:rPr>
              <a:t>NIDA-Pak </a:t>
            </a:r>
            <a:r>
              <a:rPr lang="en-GB" dirty="0">
                <a:latin typeface="Times New Roman" panose="02020603050405020304" pitchFamily="18" charset="0"/>
                <a:ea typeface="Times New Roman" panose="02020603050405020304" pitchFamily="18" charset="0"/>
              </a:rPr>
              <a:t>and </a:t>
            </a:r>
            <a:r>
              <a:rPr lang="en-GB" dirty="0" smtClean="0">
                <a:latin typeface="Times New Roman" panose="02020603050405020304" pitchFamily="18" charset="0"/>
                <a:ea typeface="Times New Roman" panose="02020603050405020304" pitchFamily="18" charset="0"/>
              </a:rPr>
              <a:t>Staff Responsibility</a:t>
            </a:r>
            <a:endParaRPr lang="en-US" dirty="0"/>
          </a:p>
        </p:txBody>
      </p:sp>
      <p:sp>
        <p:nvSpPr>
          <p:cNvPr id="3" name="Subtitle 2"/>
          <p:cNvSpPr>
            <a:spLocks noGrp="1"/>
          </p:cNvSpPr>
          <p:nvPr>
            <p:ph type="subTitle" idx="1"/>
          </p:nvPr>
        </p:nvSpPr>
        <p:spPr>
          <a:xfrm>
            <a:off x="1154955" y="1658983"/>
            <a:ext cx="9922348" cy="3979817"/>
          </a:xfrm>
        </p:spPr>
        <p:txBody>
          <a:bodyPr>
            <a:normAutofit/>
          </a:bodyPr>
          <a:lstStyle/>
          <a:p>
            <a:pPr algn="just">
              <a:lnSpc>
                <a:spcPct val="160000"/>
              </a:lnSpc>
              <a:spcBef>
                <a:spcPts val="0"/>
              </a:spcBef>
            </a:pPr>
            <a:r>
              <a:rPr lang="en-GB" sz="2800" dirty="0">
                <a:solidFill>
                  <a:srgbClr val="FFC000"/>
                </a:solidFill>
                <a:latin typeface="Arial Narrow" panose="020B0606020202030204" pitchFamily="34" charset="0"/>
                <a:ea typeface="Times New Roman" panose="02020603050405020304" pitchFamily="18" charset="0"/>
              </a:rPr>
              <a:t>The </a:t>
            </a:r>
            <a:r>
              <a:rPr lang="en-GB" sz="2800" dirty="0" smtClean="0">
                <a:solidFill>
                  <a:srgbClr val="FFC000"/>
                </a:solidFill>
                <a:latin typeface="Arial Narrow" panose="020B0606020202030204" pitchFamily="34" charset="0"/>
                <a:ea typeface="Times New Roman" panose="02020603050405020304" pitchFamily="18" charset="0"/>
              </a:rPr>
              <a:t>NIDA-PAK </a:t>
            </a:r>
            <a:r>
              <a:rPr lang="en-GB" sz="2800" dirty="0">
                <a:solidFill>
                  <a:srgbClr val="FFC000"/>
                </a:solidFill>
                <a:latin typeface="Arial Narrow" panose="020B0606020202030204" pitchFamily="34" charset="0"/>
                <a:ea typeface="Times New Roman" panose="02020603050405020304" pitchFamily="18" charset="0"/>
              </a:rPr>
              <a:t>Management Group is ultimately responsible for the safety and welfare of all </a:t>
            </a:r>
            <a:r>
              <a:rPr lang="en-GB" sz="2800" dirty="0" smtClean="0">
                <a:solidFill>
                  <a:srgbClr val="FFC000"/>
                </a:solidFill>
                <a:latin typeface="Arial Narrow" panose="020B0606020202030204" pitchFamily="34" charset="0"/>
                <a:ea typeface="Times New Roman" panose="02020603050405020304" pitchFamily="18" charset="0"/>
              </a:rPr>
              <a:t>NIDA-PAK’s </a:t>
            </a:r>
            <a:r>
              <a:rPr lang="en-GB" sz="2800" dirty="0">
                <a:solidFill>
                  <a:srgbClr val="FFC000"/>
                </a:solidFill>
                <a:latin typeface="Arial Narrow" panose="020B0606020202030204" pitchFamily="34" charset="0"/>
                <a:ea typeface="Times New Roman" panose="02020603050405020304" pitchFamily="18" charset="0"/>
              </a:rPr>
              <a:t>staff and with the support of the Security Manager who will ensure that appropriate staffing, policies and other initiatives are in place to meet this responsibility</a:t>
            </a:r>
            <a:r>
              <a:rPr lang="en-GB" sz="2800" dirty="0">
                <a:latin typeface="Arial Narrow" panose="020B0606020202030204" pitchFamily="34" charset="0"/>
                <a:ea typeface="Times New Roman" panose="02020603050405020304" pitchFamily="18" charset="0"/>
              </a:rPr>
              <a:t>.</a:t>
            </a:r>
            <a:endParaRPr lang="en-US" sz="2800" dirty="0">
              <a:latin typeface="Arial Narrow" panose="020B0606020202030204" pitchFamily="34" charset="0"/>
              <a:ea typeface="Times New Roman" panose="02020603050405020304" pitchFamily="18" charset="0"/>
            </a:endParaRPr>
          </a:p>
          <a:p>
            <a:endParaRPr lang="en-US" dirty="0"/>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10123714" y="513897"/>
            <a:ext cx="1524726" cy="374377"/>
          </a:xfrm>
          <a:prstGeom prst="rect">
            <a:avLst/>
          </a:prstGeom>
        </p:spPr>
      </p:pic>
    </p:spTree>
    <p:extLst>
      <p:ext uri="{BB962C8B-B14F-4D97-AF65-F5344CB8AC3E}">
        <p14:creationId xmlns:p14="http://schemas.microsoft.com/office/powerpoint/2010/main" val="16254078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522514"/>
            <a:ext cx="8825658" cy="796835"/>
          </a:xfrm>
        </p:spPr>
        <p:txBody>
          <a:bodyPr/>
          <a:lstStyle/>
          <a:p>
            <a:r>
              <a:rPr lang="en-GB" dirty="0">
                <a:latin typeface="Times New Roman" panose="02020603050405020304" pitchFamily="18" charset="0"/>
                <a:ea typeface="Times New Roman" panose="02020603050405020304" pitchFamily="18" charset="0"/>
              </a:rPr>
              <a:t>Safety and </a:t>
            </a:r>
            <a:r>
              <a:rPr lang="en-GB" dirty="0" smtClean="0">
                <a:latin typeface="Times New Roman" panose="02020603050405020304" pitchFamily="18" charset="0"/>
                <a:ea typeface="Times New Roman" panose="02020603050405020304" pitchFamily="18" charset="0"/>
              </a:rPr>
              <a:t>Security</a:t>
            </a:r>
            <a:endParaRPr lang="en-US" dirty="0"/>
          </a:p>
        </p:txBody>
      </p:sp>
      <p:sp>
        <p:nvSpPr>
          <p:cNvPr id="3" name="Subtitle 2"/>
          <p:cNvSpPr>
            <a:spLocks noGrp="1"/>
          </p:cNvSpPr>
          <p:nvPr>
            <p:ph type="subTitle" idx="1"/>
          </p:nvPr>
        </p:nvSpPr>
        <p:spPr>
          <a:xfrm>
            <a:off x="1154955" y="1319349"/>
            <a:ext cx="10261982" cy="4319451"/>
          </a:xfrm>
        </p:spPr>
        <p:txBody>
          <a:bodyPr>
            <a:normAutofit lnSpcReduction="10000"/>
          </a:bodyPr>
          <a:lstStyle/>
          <a:p>
            <a:pPr algn="just">
              <a:lnSpc>
                <a:spcPct val="150000"/>
              </a:lnSpc>
              <a:spcBef>
                <a:spcPts val="0"/>
              </a:spcBef>
            </a:pPr>
            <a:r>
              <a:rPr lang="en-GB" sz="2400" dirty="0">
                <a:solidFill>
                  <a:srgbClr val="FFC000"/>
                </a:solidFill>
                <a:latin typeface="Arial Narrow" panose="020B0606020202030204" pitchFamily="34" charset="0"/>
                <a:ea typeface="Times New Roman" panose="02020603050405020304" pitchFamily="18" charset="0"/>
              </a:rPr>
              <a:t>Security refers to the threat posed to </a:t>
            </a:r>
            <a:r>
              <a:rPr lang="en-GB" sz="2400" dirty="0" smtClean="0">
                <a:solidFill>
                  <a:srgbClr val="FFC000"/>
                </a:solidFill>
                <a:latin typeface="Arial Narrow" panose="020B0606020202030204" pitchFamily="34" charset="0"/>
                <a:ea typeface="Times New Roman" panose="02020603050405020304" pitchFamily="18" charset="0"/>
              </a:rPr>
              <a:t>NIDA-PAK’s </a:t>
            </a:r>
            <a:r>
              <a:rPr lang="en-GB" sz="2400" dirty="0">
                <a:solidFill>
                  <a:srgbClr val="FFC000"/>
                </a:solidFill>
                <a:latin typeface="Arial Narrow" panose="020B0606020202030204" pitchFamily="34" charset="0"/>
                <a:ea typeface="Times New Roman" panose="02020603050405020304" pitchFamily="18" charset="0"/>
              </a:rPr>
              <a:t>employees by acts of violence, war and crime.  While the security of </a:t>
            </a:r>
            <a:r>
              <a:rPr lang="en-GB" sz="2400" dirty="0" smtClean="0">
                <a:solidFill>
                  <a:srgbClr val="FFC000"/>
                </a:solidFill>
                <a:latin typeface="Arial Narrow" panose="020B0606020202030204" pitchFamily="34" charset="0"/>
                <a:ea typeface="Times New Roman" panose="02020603050405020304" pitchFamily="18" charset="0"/>
              </a:rPr>
              <a:t>NIDA-PAK </a:t>
            </a:r>
            <a:r>
              <a:rPr lang="en-GB" sz="2400" dirty="0">
                <a:solidFill>
                  <a:srgbClr val="FFC000"/>
                </a:solidFill>
                <a:latin typeface="Arial Narrow" panose="020B0606020202030204" pitchFamily="34" charset="0"/>
                <a:ea typeface="Times New Roman" panose="02020603050405020304" pitchFamily="18" charset="0"/>
              </a:rPr>
              <a:t>assets and staff are of primary concern, in many situations it is safety threats such as vehicle accidents, disease and other health threats that prove to be the biggest risk.  All </a:t>
            </a:r>
            <a:r>
              <a:rPr lang="en-GB" sz="2400" dirty="0" smtClean="0">
                <a:solidFill>
                  <a:srgbClr val="FFC000"/>
                </a:solidFill>
                <a:latin typeface="Arial Narrow" panose="020B0606020202030204" pitchFamily="34" charset="0"/>
                <a:ea typeface="Times New Roman" panose="02020603050405020304" pitchFamily="18" charset="0"/>
              </a:rPr>
              <a:t>NIDA-PAK’s </a:t>
            </a:r>
            <a:r>
              <a:rPr lang="en-GB" sz="2400" dirty="0">
                <a:solidFill>
                  <a:srgbClr val="FFC000"/>
                </a:solidFill>
                <a:latin typeface="Arial Narrow" panose="020B0606020202030204" pitchFamily="34" charset="0"/>
                <a:ea typeface="Times New Roman" panose="02020603050405020304" pitchFamily="18" charset="0"/>
              </a:rPr>
              <a:t>staff is obliged to take reasonable safety measures.  Again, safety is an individual responsibility, but unsafe behaviour by one team member can put others at risk.</a:t>
            </a:r>
            <a:endParaRPr lang="en-US" sz="2400" dirty="0">
              <a:solidFill>
                <a:srgbClr val="FFC000"/>
              </a:solidFill>
              <a:latin typeface="Arial Narrow" panose="020B0606020202030204" pitchFamily="34" charset="0"/>
              <a:ea typeface="Times New Roman" panose="02020603050405020304" pitchFamily="18" charset="0"/>
            </a:endParaRPr>
          </a:p>
          <a:p>
            <a:endParaRPr lang="en-US" dirty="0"/>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9809775" y="522514"/>
            <a:ext cx="1778000" cy="539750"/>
          </a:xfrm>
          <a:prstGeom prst="rect">
            <a:avLst/>
          </a:prstGeom>
        </p:spPr>
      </p:pic>
    </p:spTree>
    <p:extLst>
      <p:ext uri="{BB962C8B-B14F-4D97-AF65-F5344CB8AC3E}">
        <p14:creationId xmlns:p14="http://schemas.microsoft.com/office/powerpoint/2010/main" val="42419051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Grp="1" noChangeArrowheads="1"/>
          </p:cNvSpPr>
          <p:nvPr>
            <p:ph type="ctrTitle"/>
          </p:nvPr>
        </p:nvSpPr>
        <p:spPr bwMode="auto">
          <a:xfrm>
            <a:off x="927463" y="1914060"/>
            <a:ext cx="1060704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3600" b="0" i="0" u="none" strike="noStrike" cap="none" normalizeH="0" baseline="0" dirty="0" smtClean="0">
                <a:ln>
                  <a:noFill/>
                </a:ln>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Local security, crisis management, and evacuation plans</a:t>
            </a:r>
            <a:r>
              <a:rPr kumimoji="0" lang="en-US" sz="3600" b="0" i="0" u="none" strike="noStrike" cap="none" normalizeH="0" baseline="0" dirty="0" smtClean="0">
                <a:ln>
                  <a:noFill/>
                </a:ln>
                <a:solidFill>
                  <a:schemeClr val="bg1"/>
                </a:solidFill>
                <a:effectLst/>
                <a:latin typeface="Times New Roman" panose="02020603050405020304" pitchFamily="18" charset="0"/>
                <a:cs typeface="Times New Roman" panose="02020603050405020304" pitchFamily="18" charset="0"/>
              </a:rPr>
              <a:t> </a:t>
            </a:r>
          </a:p>
        </p:txBody>
      </p:sp>
      <p:sp>
        <p:nvSpPr>
          <p:cNvPr id="7" name="Rectangle 4"/>
          <p:cNvSpPr>
            <a:spLocks noGrp="1" noChangeArrowheads="1"/>
          </p:cNvSpPr>
          <p:nvPr>
            <p:ph type="subTitle" idx="1"/>
          </p:nvPr>
        </p:nvSpPr>
        <p:spPr bwMode="auto">
          <a:xfrm>
            <a:off x="1097280" y="4216362"/>
            <a:ext cx="10123714"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3200" b="0" i="0" u="none" strike="noStrike" cap="none" normalizeH="0" baseline="0" dirty="0" smtClean="0">
                <a:ln>
                  <a:noFill/>
                </a:ln>
                <a:solidFill>
                  <a:srgbClr val="FFC000"/>
                </a:solidFill>
                <a:effectLst/>
                <a:latin typeface="Arial Narrow" panose="020B0606020202030204" pitchFamily="34" charset="0"/>
                <a:ea typeface="Times New Roman" panose="02020603050405020304" pitchFamily="18" charset="0"/>
                <a:cs typeface="Times New Roman" panose="02020603050405020304" pitchFamily="18" charset="0"/>
              </a:rPr>
              <a:t>Each NIDA-Pak office must develop a local security plan, crisis management plan, and a local evacuation plan</a:t>
            </a:r>
            <a:r>
              <a:rPr kumimoji="0" lang="en-US" sz="3200" b="0" i="0" u="none" strike="noStrike" cap="none" normalizeH="0" baseline="0" dirty="0" smtClean="0">
                <a:ln>
                  <a:noFill/>
                </a:ln>
                <a:solidFill>
                  <a:srgbClr val="FFC000"/>
                </a:solidFill>
                <a:effectLst/>
                <a:latin typeface="Arial Narrow" panose="020B0606020202030204" pitchFamily="34" charset="0"/>
              </a:rPr>
              <a:t> </a:t>
            </a:r>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9883503" y="546325"/>
            <a:ext cx="1778000" cy="539750"/>
          </a:xfrm>
          <a:prstGeom prst="rect">
            <a:avLst/>
          </a:prstGeom>
        </p:spPr>
      </p:pic>
    </p:spTree>
    <p:extLst>
      <p:ext uri="{BB962C8B-B14F-4D97-AF65-F5344CB8AC3E}">
        <p14:creationId xmlns:p14="http://schemas.microsoft.com/office/powerpoint/2010/main" val="224790687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095181"/>
            <a:ext cx="8825658" cy="851185"/>
          </a:xfrm>
        </p:spPr>
        <p:txBody>
          <a:bodyPr/>
          <a:lstStyle/>
          <a:p>
            <a:r>
              <a:rPr lang="en-GB" sz="4800" dirty="0">
                <a:latin typeface="Times New Roman" panose="02020603050405020304" pitchFamily="18" charset="0"/>
                <a:ea typeface="Times New Roman" panose="02020603050405020304" pitchFamily="18" charset="0"/>
              </a:rPr>
              <a:t>Minimum training requirements</a:t>
            </a:r>
            <a:endParaRPr lang="en-US" sz="4800" dirty="0"/>
          </a:p>
        </p:txBody>
      </p:sp>
      <p:sp>
        <p:nvSpPr>
          <p:cNvPr id="3" name="Subtitle 2"/>
          <p:cNvSpPr>
            <a:spLocks noGrp="1"/>
          </p:cNvSpPr>
          <p:nvPr>
            <p:ph type="subTitle" idx="1"/>
          </p:nvPr>
        </p:nvSpPr>
        <p:spPr>
          <a:xfrm>
            <a:off x="1154955" y="2063932"/>
            <a:ext cx="10039914" cy="4036422"/>
          </a:xfrm>
        </p:spPr>
        <p:txBody>
          <a:bodyPr>
            <a:noAutofit/>
          </a:bodyPr>
          <a:lstStyle/>
          <a:p>
            <a:pPr algn="just">
              <a:lnSpc>
                <a:spcPct val="150000"/>
              </a:lnSpc>
              <a:spcBef>
                <a:spcPts val="0"/>
              </a:spcBef>
            </a:pPr>
            <a:r>
              <a:rPr lang="en-GB" sz="2800" dirty="0" smtClean="0">
                <a:solidFill>
                  <a:srgbClr val="FFC000"/>
                </a:solidFill>
                <a:latin typeface="Arial Narrow" panose="020B0606020202030204" pitchFamily="34" charset="0"/>
                <a:ea typeface="Times New Roman" panose="02020603050405020304" pitchFamily="18" charset="0"/>
              </a:rPr>
              <a:t>NIDA-Pak </a:t>
            </a:r>
            <a:r>
              <a:rPr lang="en-GB" sz="2800" dirty="0">
                <a:solidFill>
                  <a:srgbClr val="FFC000"/>
                </a:solidFill>
                <a:latin typeface="Arial Narrow" panose="020B0606020202030204" pitchFamily="34" charset="0"/>
                <a:ea typeface="Times New Roman" panose="02020603050405020304" pitchFamily="18" charset="0"/>
              </a:rPr>
              <a:t>offers a safety and security introduction training to all staff. The curriculum is in line with the policies of </a:t>
            </a:r>
            <a:r>
              <a:rPr lang="en-GB" sz="2800" dirty="0" smtClean="0">
                <a:solidFill>
                  <a:srgbClr val="FFC000"/>
                </a:solidFill>
                <a:latin typeface="Arial Narrow" panose="020B0606020202030204" pitchFamily="34" charset="0"/>
                <a:ea typeface="Times New Roman" panose="02020603050405020304" pitchFamily="18" charset="0"/>
              </a:rPr>
              <a:t>NIDA-PAK. NIDA-PAK’s </a:t>
            </a:r>
            <a:r>
              <a:rPr lang="en-GB" sz="2800" dirty="0">
                <a:solidFill>
                  <a:srgbClr val="FFC000"/>
                </a:solidFill>
                <a:latin typeface="Arial Narrow" panose="020B0606020202030204" pitchFamily="34" charset="0"/>
                <a:ea typeface="Times New Roman" panose="02020603050405020304" pitchFamily="18" charset="0"/>
              </a:rPr>
              <a:t>staff shall participate in local or regional safety and security trainings. Project managers and supervising staff take decisions on training measures and frequencies</a:t>
            </a:r>
            <a:r>
              <a:rPr lang="en-GB" sz="2800" dirty="0">
                <a:latin typeface="Arial Narrow" panose="020B0606020202030204" pitchFamily="34" charset="0"/>
                <a:ea typeface="Times New Roman" panose="02020603050405020304" pitchFamily="18" charset="0"/>
              </a:rPr>
              <a:t>.</a:t>
            </a:r>
            <a:endParaRPr lang="en-US" sz="2800" dirty="0">
              <a:latin typeface="Arial Narrow" panose="020B0606020202030204" pitchFamily="34" charset="0"/>
              <a:ea typeface="Times New Roman" panose="02020603050405020304" pitchFamily="18" charset="0"/>
            </a:endParaRPr>
          </a:p>
          <a:p>
            <a:endParaRPr lang="en-US" sz="2800" dirty="0">
              <a:latin typeface="Arial Narrow" panose="020B0606020202030204" pitchFamily="34" charset="0"/>
            </a:endParaRPr>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9883503" y="555431"/>
            <a:ext cx="1778000" cy="539750"/>
          </a:xfrm>
          <a:prstGeom prst="rect">
            <a:avLst/>
          </a:prstGeom>
        </p:spPr>
      </p:pic>
    </p:spTree>
    <p:extLst>
      <p:ext uri="{BB962C8B-B14F-4D97-AF65-F5344CB8AC3E}">
        <p14:creationId xmlns:p14="http://schemas.microsoft.com/office/powerpoint/2010/main" val="37138622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584101"/>
            <a:ext cx="8825658" cy="636585"/>
          </a:xfrm>
        </p:spPr>
        <p:txBody>
          <a:bodyPr/>
          <a:lstStyle/>
          <a:p>
            <a:pPr marL="0" marR="0">
              <a:spcBef>
                <a:spcPts val="1200"/>
              </a:spcBef>
              <a:spcAft>
                <a:spcPts val="300"/>
              </a:spcAft>
            </a:pPr>
            <a:r>
              <a:rPr lang="en-GB" b="1" dirty="0">
                <a:solidFill>
                  <a:srgbClr val="0000FF"/>
                </a:solidFill>
                <a:latin typeface="Arial Narrow" panose="020B0606020202030204" pitchFamily="34" charset="0"/>
              </a:rPr>
              <a:t>No ransom or bribes</a:t>
            </a:r>
            <a:r>
              <a:rPr lang="en-US" b="1" dirty="0">
                <a:solidFill>
                  <a:srgbClr val="0000FF"/>
                </a:solidFill>
                <a:latin typeface="Arial Narrow" panose="020B0606020202030204" pitchFamily="34" charset="0"/>
              </a:rPr>
              <a:t/>
            </a:r>
            <a:br>
              <a:rPr lang="en-US" b="1" dirty="0">
                <a:solidFill>
                  <a:srgbClr val="0000FF"/>
                </a:solidFill>
                <a:latin typeface="Arial Narrow" panose="020B0606020202030204" pitchFamily="34" charset="0"/>
              </a:rPr>
            </a:br>
            <a:endParaRPr lang="en-US" dirty="0"/>
          </a:p>
        </p:txBody>
      </p:sp>
      <p:sp>
        <p:nvSpPr>
          <p:cNvPr id="3" name="Subtitle 2"/>
          <p:cNvSpPr>
            <a:spLocks noGrp="1"/>
          </p:cNvSpPr>
          <p:nvPr>
            <p:ph type="subTitle" idx="1"/>
          </p:nvPr>
        </p:nvSpPr>
        <p:spPr>
          <a:xfrm>
            <a:off x="1154955" y="1584101"/>
            <a:ext cx="9987662" cy="4054699"/>
          </a:xfrm>
        </p:spPr>
        <p:txBody>
          <a:bodyPr>
            <a:normAutofit/>
          </a:bodyPr>
          <a:lstStyle/>
          <a:p>
            <a:pPr algn="just">
              <a:lnSpc>
                <a:spcPct val="150000"/>
              </a:lnSpc>
            </a:pPr>
            <a:r>
              <a:rPr lang="en-GB" sz="2400" dirty="0">
                <a:solidFill>
                  <a:srgbClr val="FFC000"/>
                </a:solidFill>
                <a:latin typeface="Arial Narrow" panose="020B0606020202030204" pitchFamily="34" charset="0"/>
                <a:ea typeface="Times New Roman" panose="02020603050405020304" pitchFamily="18" charset="0"/>
                <a:cs typeface="Times New Roman" panose="02020603050405020304" pitchFamily="18" charset="0"/>
              </a:rPr>
              <a:t>While </a:t>
            </a:r>
            <a:r>
              <a:rPr lang="en-GB" sz="2400" dirty="0" smtClean="0">
                <a:solidFill>
                  <a:srgbClr val="FFC000"/>
                </a:solidFill>
                <a:latin typeface="Arial Narrow" panose="020B0606020202030204" pitchFamily="34" charset="0"/>
                <a:ea typeface="Times New Roman" panose="02020603050405020304" pitchFamily="18" charset="0"/>
                <a:cs typeface="Times New Roman" panose="02020603050405020304" pitchFamily="18" charset="0"/>
              </a:rPr>
              <a:t>NIDA-PAK </a:t>
            </a:r>
            <a:r>
              <a:rPr lang="en-GB" sz="2400" dirty="0">
                <a:solidFill>
                  <a:srgbClr val="FFC000"/>
                </a:solidFill>
                <a:latin typeface="Arial Narrow" panose="020B0606020202030204" pitchFamily="34" charset="0"/>
                <a:ea typeface="Times New Roman" panose="02020603050405020304" pitchFamily="18" charset="0"/>
                <a:cs typeface="Times New Roman" panose="02020603050405020304" pitchFamily="18" charset="0"/>
              </a:rPr>
              <a:t>will do every ethical thing possible to secure the release and safe return of detained or abducted staff members, </a:t>
            </a:r>
            <a:r>
              <a:rPr lang="en-GB" sz="2400" dirty="0" smtClean="0">
                <a:solidFill>
                  <a:srgbClr val="FFC000"/>
                </a:solidFill>
                <a:latin typeface="Arial Narrow" panose="020B0606020202030204" pitchFamily="34" charset="0"/>
                <a:ea typeface="Times New Roman" panose="02020603050405020304" pitchFamily="18" charset="0"/>
                <a:cs typeface="Times New Roman" panose="02020603050405020304" pitchFamily="18" charset="0"/>
              </a:rPr>
              <a:t>NIDA-PAK </a:t>
            </a:r>
            <a:r>
              <a:rPr lang="en-GB" sz="2400" dirty="0">
                <a:solidFill>
                  <a:srgbClr val="FFC000"/>
                </a:solidFill>
                <a:latin typeface="Arial Narrow" panose="020B0606020202030204" pitchFamily="34" charset="0"/>
                <a:ea typeface="Times New Roman" panose="02020603050405020304" pitchFamily="18" charset="0"/>
                <a:cs typeface="Times New Roman" panose="02020603050405020304" pitchFamily="18" charset="0"/>
              </a:rPr>
              <a:t>will not pay ransoms for the release of staff being held.  Neither will </a:t>
            </a:r>
            <a:r>
              <a:rPr lang="en-GB" sz="2400" dirty="0" smtClean="0">
                <a:solidFill>
                  <a:srgbClr val="FFC000"/>
                </a:solidFill>
                <a:latin typeface="Arial Narrow" panose="020B0606020202030204" pitchFamily="34" charset="0"/>
                <a:ea typeface="Times New Roman" panose="02020603050405020304" pitchFamily="18" charset="0"/>
                <a:cs typeface="Times New Roman" panose="02020603050405020304" pitchFamily="18" charset="0"/>
              </a:rPr>
              <a:t>NIDA-PAK </a:t>
            </a:r>
            <a:r>
              <a:rPr lang="en-GB" sz="2400" dirty="0">
                <a:solidFill>
                  <a:srgbClr val="FFC000"/>
                </a:solidFill>
                <a:latin typeface="Arial Narrow" panose="020B0606020202030204" pitchFamily="34" charset="0"/>
                <a:ea typeface="Times New Roman" panose="02020603050405020304" pitchFamily="18" charset="0"/>
                <a:cs typeface="Times New Roman" panose="02020603050405020304" pitchFamily="18" charset="0"/>
              </a:rPr>
              <a:t>offer rewards, inducements or bribes to local officials or others outside the organisation to carry out their normal tasks nor to perform illegal services</a:t>
            </a:r>
            <a:endParaRPr lang="en-US" sz="2400" dirty="0">
              <a:solidFill>
                <a:srgbClr val="FFC000"/>
              </a:solidFill>
            </a:endParaRPr>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9857377" y="533491"/>
            <a:ext cx="1778000" cy="539750"/>
          </a:xfrm>
          <a:prstGeom prst="rect">
            <a:avLst/>
          </a:prstGeom>
        </p:spPr>
      </p:pic>
    </p:spTree>
    <p:extLst>
      <p:ext uri="{BB962C8B-B14F-4D97-AF65-F5344CB8AC3E}">
        <p14:creationId xmlns:p14="http://schemas.microsoft.com/office/powerpoint/2010/main" val="266807476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640081"/>
            <a:ext cx="8825658" cy="992776"/>
          </a:xfrm>
        </p:spPr>
        <p:txBody>
          <a:bodyPr/>
          <a:lstStyle/>
          <a:p>
            <a:r>
              <a:rPr lang="en-GB" dirty="0">
                <a:latin typeface="Times New Roman" panose="02020603050405020304" pitchFamily="18" charset="0"/>
                <a:ea typeface="Times New Roman" panose="02020603050405020304" pitchFamily="18" charset="0"/>
              </a:rPr>
              <a:t>The right to withdraw</a:t>
            </a:r>
            <a:endParaRPr lang="en-US" dirty="0"/>
          </a:p>
        </p:txBody>
      </p:sp>
      <p:sp>
        <p:nvSpPr>
          <p:cNvPr id="3" name="Subtitle 2"/>
          <p:cNvSpPr>
            <a:spLocks noGrp="1"/>
          </p:cNvSpPr>
          <p:nvPr>
            <p:ph type="subTitle" idx="1"/>
          </p:nvPr>
        </p:nvSpPr>
        <p:spPr>
          <a:xfrm>
            <a:off x="1052291" y="1724297"/>
            <a:ext cx="10364645" cy="4211759"/>
          </a:xfrm>
        </p:spPr>
        <p:txBody>
          <a:bodyPr>
            <a:normAutofit/>
          </a:bodyPr>
          <a:lstStyle/>
          <a:p>
            <a:pPr algn="just">
              <a:lnSpc>
                <a:spcPct val="150000"/>
              </a:lnSpc>
            </a:pPr>
            <a:r>
              <a:rPr lang="en-GB" sz="2800" dirty="0" smtClean="0">
                <a:solidFill>
                  <a:srgbClr val="FFC000"/>
                </a:solidFill>
                <a:latin typeface="Arial Narrow" panose="020B0606020202030204" pitchFamily="34" charset="0"/>
                <a:ea typeface="Times New Roman" panose="02020603050405020304" pitchFamily="18" charset="0"/>
                <a:cs typeface="Times New Roman" panose="02020603050405020304" pitchFamily="18" charset="0"/>
              </a:rPr>
              <a:t>NIDA-PAK </a:t>
            </a:r>
            <a:r>
              <a:rPr lang="en-GB" sz="2800" dirty="0">
                <a:solidFill>
                  <a:srgbClr val="FFC000"/>
                </a:solidFill>
                <a:latin typeface="Arial Narrow" panose="020B0606020202030204" pitchFamily="34" charset="0"/>
                <a:ea typeface="Times New Roman" panose="02020603050405020304" pitchFamily="18" charset="0"/>
                <a:cs typeface="Times New Roman" panose="02020603050405020304" pitchFamily="18" charset="0"/>
              </a:rPr>
              <a:t>staff has the right to withdraw from situations where they are feeling insecure without suffering disciplinary action. If staff should fear that his/her action will/are having negative consequences for the staff’s contractual agreements, the staff are free to contact the security office directly either by phone or email</a:t>
            </a:r>
            <a:endParaRPr lang="en-US" sz="2800" dirty="0">
              <a:solidFill>
                <a:srgbClr val="FFC000"/>
              </a:solidFill>
            </a:endParaRPr>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9857377" y="548641"/>
            <a:ext cx="1778000" cy="539750"/>
          </a:xfrm>
          <a:prstGeom prst="rect">
            <a:avLst/>
          </a:prstGeom>
        </p:spPr>
      </p:pic>
    </p:spTree>
    <p:extLst>
      <p:ext uri="{BB962C8B-B14F-4D97-AF65-F5344CB8AC3E}">
        <p14:creationId xmlns:p14="http://schemas.microsoft.com/office/powerpoint/2010/main" val="22492991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666207"/>
            <a:ext cx="8825658" cy="1645920"/>
          </a:xfrm>
        </p:spPr>
        <p:txBody>
          <a:bodyPr/>
          <a:lstStyle/>
          <a:p>
            <a:pPr marL="0" marR="0">
              <a:spcBef>
                <a:spcPts val="1200"/>
              </a:spcBef>
              <a:spcAft>
                <a:spcPts val="300"/>
              </a:spcAft>
            </a:pPr>
            <a:r>
              <a:rPr lang="en-GB" b="1" dirty="0">
                <a:solidFill>
                  <a:srgbClr val="0000FF"/>
                </a:solidFill>
                <a:latin typeface="Arial Narrow" panose="020B0606020202030204" pitchFamily="34" charset="0"/>
              </a:rPr>
              <a:t>No right to remain</a:t>
            </a:r>
            <a:r>
              <a:rPr lang="en-US" b="1" dirty="0">
                <a:solidFill>
                  <a:srgbClr val="0000FF"/>
                </a:solidFill>
                <a:latin typeface="Arial Narrow" panose="020B0606020202030204" pitchFamily="34" charset="0"/>
              </a:rPr>
              <a:t/>
            </a:r>
            <a:br>
              <a:rPr lang="en-US" b="1" dirty="0">
                <a:solidFill>
                  <a:srgbClr val="0000FF"/>
                </a:solidFill>
                <a:latin typeface="Arial Narrow" panose="020B0606020202030204" pitchFamily="34" charset="0"/>
              </a:rPr>
            </a:br>
            <a:endParaRPr lang="en-US" dirty="0"/>
          </a:p>
        </p:txBody>
      </p:sp>
      <p:sp>
        <p:nvSpPr>
          <p:cNvPr id="3" name="Subtitle 2"/>
          <p:cNvSpPr>
            <a:spLocks noGrp="1"/>
          </p:cNvSpPr>
          <p:nvPr>
            <p:ph type="subTitle" idx="1"/>
          </p:nvPr>
        </p:nvSpPr>
        <p:spPr>
          <a:xfrm>
            <a:off x="1154955" y="1606731"/>
            <a:ext cx="9922348" cy="4376058"/>
          </a:xfrm>
        </p:spPr>
        <p:txBody>
          <a:bodyPr>
            <a:normAutofit/>
          </a:bodyPr>
          <a:lstStyle/>
          <a:p>
            <a:pPr algn="just">
              <a:lnSpc>
                <a:spcPct val="150000"/>
              </a:lnSpc>
            </a:pPr>
            <a:r>
              <a:rPr lang="en-GB" sz="2400" dirty="0" smtClean="0">
                <a:solidFill>
                  <a:srgbClr val="FFC000"/>
                </a:solidFill>
                <a:latin typeface="Arial Narrow" panose="020B0606020202030204" pitchFamily="34" charset="0"/>
                <a:ea typeface="Times New Roman" panose="02020603050405020304" pitchFamily="18" charset="0"/>
                <a:cs typeface="Times New Roman" panose="02020603050405020304" pitchFamily="18" charset="0"/>
              </a:rPr>
              <a:t>NIDA-PAK </a:t>
            </a:r>
            <a:r>
              <a:rPr lang="en-GB" sz="2400" dirty="0">
                <a:solidFill>
                  <a:srgbClr val="FFC000"/>
                </a:solidFill>
                <a:latin typeface="Arial Narrow" panose="020B0606020202030204" pitchFamily="34" charset="0"/>
                <a:ea typeface="Times New Roman" panose="02020603050405020304" pitchFamily="18" charset="0"/>
                <a:cs typeface="Times New Roman" panose="02020603050405020304" pitchFamily="18" charset="0"/>
              </a:rPr>
              <a:t>has the right to withdraw its staff from situations that it considers to be dangerous and all staff is obliged to obey those instructions. This applies not only at project level within a country, but as a country programme as a whole as well. Failure to follow such instructions might lead to disciplinary action or termination of contract, subject to level of seriousness</a:t>
            </a:r>
            <a:endParaRPr lang="en-US" sz="2400" dirty="0">
              <a:solidFill>
                <a:srgbClr val="FFC000"/>
              </a:solidFill>
            </a:endParaRPr>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9883502" y="596719"/>
            <a:ext cx="1778000" cy="539750"/>
          </a:xfrm>
          <a:prstGeom prst="rect">
            <a:avLst/>
          </a:prstGeom>
        </p:spPr>
      </p:pic>
    </p:spTree>
    <p:extLst>
      <p:ext uri="{BB962C8B-B14F-4D97-AF65-F5344CB8AC3E}">
        <p14:creationId xmlns:p14="http://schemas.microsoft.com/office/powerpoint/2010/main" val="234279224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770710"/>
            <a:ext cx="8825658" cy="927462"/>
          </a:xfrm>
        </p:spPr>
        <p:txBody>
          <a:bodyPr/>
          <a:lstStyle/>
          <a:p>
            <a:r>
              <a:rPr lang="en-US" dirty="0" smtClean="0"/>
              <a:t>Other topics</a:t>
            </a:r>
            <a:endParaRPr lang="en-US" dirty="0"/>
          </a:p>
        </p:txBody>
      </p:sp>
      <p:sp>
        <p:nvSpPr>
          <p:cNvPr id="3" name="Subtitle 2"/>
          <p:cNvSpPr>
            <a:spLocks noGrp="1"/>
          </p:cNvSpPr>
          <p:nvPr>
            <p:ph type="subTitle" idx="1"/>
          </p:nvPr>
        </p:nvSpPr>
        <p:spPr>
          <a:xfrm>
            <a:off x="1154955" y="1698172"/>
            <a:ext cx="9896222" cy="3940629"/>
          </a:xfrm>
        </p:spPr>
        <p:txBody>
          <a:bodyPr>
            <a:normAutofit/>
          </a:bodyPr>
          <a:lstStyle/>
          <a:p>
            <a:pPr marL="285750" indent="-285750">
              <a:buFont typeface="Arial" panose="020B0604020202020204" pitchFamily="34" charset="0"/>
              <a:buChar char="•"/>
            </a:pPr>
            <a:r>
              <a:rPr lang="en-GB" sz="3600" dirty="0">
                <a:solidFill>
                  <a:srgbClr val="FFC000"/>
                </a:solidFill>
                <a:latin typeface="Arial Narrow" panose="020B0606020202030204" pitchFamily="34" charset="0"/>
                <a:ea typeface="Times New Roman" panose="02020603050405020304" pitchFamily="18" charset="0"/>
              </a:rPr>
              <a:t>Evacuation </a:t>
            </a:r>
            <a:r>
              <a:rPr lang="en-GB" sz="3600" dirty="0" smtClean="0">
                <a:solidFill>
                  <a:srgbClr val="FFC000"/>
                </a:solidFill>
                <a:latin typeface="Arial Narrow" panose="020B0606020202030204" pitchFamily="34" charset="0"/>
                <a:ea typeface="Times New Roman" panose="02020603050405020304" pitchFamily="18" charset="0"/>
              </a:rPr>
              <a:t>policy</a:t>
            </a:r>
          </a:p>
          <a:p>
            <a:pPr marL="285750" indent="-285750">
              <a:spcBef>
                <a:spcPts val="1200"/>
              </a:spcBef>
              <a:spcAft>
                <a:spcPts val="300"/>
              </a:spcAft>
              <a:buFont typeface="Arial" panose="020B0604020202020204" pitchFamily="34" charset="0"/>
              <a:buChar char="•"/>
            </a:pPr>
            <a:r>
              <a:rPr lang="en-GB" sz="3600" b="1" dirty="0">
                <a:solidFill>
                  <a:srgbClr val="FFC000"/>
                </a:solidFill>
                <a:latin typeface="Arial Narrow" panose="020B0606020202030204" pitchFamily="34" charset="0"/>
              </a:rPr>
              <a:t>Security </a:t>
            </a:r>
            <a:r>
              <a:rPr lang="en-GB" sz="3600" b="1" dirty="0" smtClean="0">
                <a:solidFill>
                  <a:srgbClr val="FFC000"/>
                </a:solidFill>
                <a:latin typeface="Arial Narrow" panose="020B0606020202030204" pitchFamily="34" charset="0"/>
              </a:rPr>
              <a:t>officers/SFP</a:t>
            </a:r>
          </a:p>
          <a:p>
            <a:pPr marL="285750" indent="-285750">
              <a:spcBef>
                <a:spcPts val="1200"/>
              </a:spcBef>
              <a:spcAft>
                <a:spcPts val="300"/>
              </a:spcAft>
              <a:buFont typeface="Arial" panose="020B0604020202020204" pitchFamily="34" charset="0"/>
              <a:buChar char="•"/>
            </a:pPr>
            <a:r>
              <a:rPr lang="en-GB" sz="3600" dirty="0" smtClean="0">
                <a:solidFill>
                  <a:srgbClr val="FFC000"/>
                </a:solidFill>
                <a:latin typeface="Arial Narrow" panose="020B0606020202030204" pitchFamily="34" charset="0"/>
                <a:ea typeface="Times New Roman" panose="02020603050405020304" pitchFamily="18" charset="0"/>
              </a:rPr>
              <a:t>Identification</a:t>
            </a:r>
          </a:p>
          <a:p>
            <a:pPr marL="285750" indent="-285750">
              <a:spcBef>
                <a:spcPts val="1200"/>
              </a:spcBef>
              <a:spcAft>
                <a:spcPts val="300"/>
              </a:spcAft>
              <a:buFont typeface="Arial" panose="020B0604020202020204" pitchFamily="34" charset="0"/>
              <a:buChar char="•"/>
            </a:pPr>
            <a:r>
              <a:rPr lang="en-GB" sz="3600" b="1" dirty="0">
                <a:solidFill>
                  <a:srgbClr val="FFC000"/>
                </a:solidFill>
                <a:latin typeface="Arial Narrow" panose="020B0606020202030204" pitchFamily="34" charset="0"/>
              </a:rPr>
              <a:t>Crisis Management </a:t>
            </a:r>
            <a:endParaRPr lang="en-US" sz="3600" b="1" dirty="0" smtClean="0">
              <a:solidFill>
                <a:srgbClr val="FFC000"/>
              </a:solidFill>
              <a:latin typeface="Arial Narrow" panose="020B0606020202030204" pitchFamily="34" charset="0"/>
            </a:endParaRPr>
          </a:p>
          <a:p>
            <a:pPr marL="285750" indent="-285750">
              <a:spcBef>
                <a:spcPts val="1200"/>
              </a:spcBef>
              <a:spcAft>
                <a:spcPts val="300"/>
              </a:spcAft>
              <a:buFont typeface="Arial" panose="020B0604020202020204" pitchFamily="34" charset="0"/>
              <a:buChar char="•"/>
            </a:pPr>
            <a:r>
              <a:rPr lang="en-GB" sz="3600" b="1" dirty="0">
                <a:solidFill>
                  <a:srgbClr val="FFC000"/>
                </a:solidFill>
                <a:latin typeface="Arial Narrow" panose="020B0606020202030204" pitchFamily="34" charset="0"/>
              </a:rPr>
              <a:t>Safe working environment</a:t>
            </a:r>
            <a:endParaRPr lang="en-US" sz="3600" b="1" dirty="0">
              <a:solidFill>
                <a:srgbClr val="FFC000"/>
              </a:solidFill>
              <a:latin typeface="Arial Narrow" panose="020B0606020202030204" pitchFamily="34" charset="0"/>
            </a:endParaRPr>
          </a:p>
          <a:p>
            <a:pPr marL="285750" indent="-285750">
              <a:spcBef>
                <a:spcPts val="1200"/>
              </a:spcBef>
              <a:spcAft>
                <a:spcPts val="300"/>
              </a:spcAft>
              <a:buFont typeface="Arial" panose="020B0604020202020204" pitchFamily="34" charset="0"/>
              <a:buChar char="•"/>
            </a:pPr>
            <a:endParaRPr lang="en-GB" b="1" dirty="0" smtClean="0">
              <a:solidFill>
                <a:srgbClr val="0000FF"/>
              </a:solidFill>
              <a:latin typeface="Arial Narrow" panose="020B0606020202030204" pitchFamily="34" charset="0"/>
            </a:endParaRPr>
          </a:p>
          <a:p>
            <a:pPr marL="285750" indent="-285750">
              <a:spcBef>
                <a:spcPts val="1200"/>
              </a:spcBef>
              <a:spcAft>
                <a:spcPts val="300"/>
              </a:spcAft>
              <a:buFont typeface="Arial" panose="020B0604020202020204" pitchFamily="34" charset="0"/>
              <a:buChar char="•"/>
            </a:pPr>
            <a:endParaRPr lang="en-US" b="1" dirty="0">
              <a:solidFill>
                <a:srgbClr val="0000FF"/>
              </a:solidFill>
              <a:latin typeface="Arial Narrow" panose="020B0606020202030204" pitchFamily="34" charset="0"/>
            </a:endParaRPr>
          </a:p>
          <a:p>
            <a:endParaRPr lang="en-US" dirty="0"/>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9844314" y="694691"/>
            <a:ext cx="1778000" cy="539750"/>
          </a:xfrm>
          <a:prstGeom prst="rect">
            <a:avLst/>
          </a:prstGeom>
        </p:spPr>
      </p:pic>
    </p:spTree>
    <p:extLst>
      <p:ext uri="{BB962C8B-B14F-4D97-AF65-F5344CB8AC3E}">
        <p14:creationId xmlns:p14="http://schemas.microsoft.com/office/powerpoint/2010/main" val="142805445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64</TotalTime>
  <Words>616</Words>
  <Application>Microsoft Office PowerPoint</Application>
  <PresentationFormat>Widescreen</PresentationFormat>
  <Paragraphs>40</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 Narrow</vt:lpstr>
      <vt:lpstr>Century Gothic</vt:lpstr>
      <vt:lpstr>Times New Roman</vt:lpstr>
      <vt:lpstr>Wingdings 3</vt:lpstr>
      <vt:lpstr>Ion Boardroom</vt:lpstr>
      <vt:lpstr>PowerPoint Presentation</vt:lpstr>
      <vt:lpstr>NIDA-Pak Security Policy 2020</vt:lpstr>
      <vt:lpstr>Brief about Policy</vt:lpstr>
      <vt:lpstr>Impartiality </vt:lpstr>
      <vt:lpstr>Primacy to life</vt:lpstr>
      <vt:lpstr>Proportionate/acceptable risk </vt:lpstr>
      <vt:lpstr>NIDA-Pak and Staff Responsibility</vt:lpstr>
      <vt:lpstr>Safety and Security</vt:lpstr>
      <vt:lpstr>Local security, crisis management, and evacuation plans </vt:lpstr>
      <vt:lpstr>Minimum training requirements</vt:lpstr>
      <vt:lpstr>No ransom or bribes </vt:lpstr>
      <vt:lpstr>The right to withdraw</vt:lpstr>
      <vt:lpstr>No right to remain </vt:lpstr>
      <vt:lpstr>Other topics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IDEA Security Policy 2015</dc:title>
  <dc:creator>Abdul Gafoor</dc:creator>
  <cp:lastModifiedBy>Abdul Ghafoor</cp:lastModifiedBy>
  <cp:revision>14</cp:revision>
  <dcterms:created xsi:type="dcterms:W3CDTF">2015-04-17T07:15:00Z</dcterms:created>
  <dcterms:modified xsi:type="dcterms:W3CDTF">2021-06-26T17:11:34Z</dcterms:modified>
</cp:coreProperties>
</file>